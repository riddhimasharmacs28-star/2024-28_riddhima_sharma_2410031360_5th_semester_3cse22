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6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703" y="307181"/>
            <a:ext cx="616539" cy="6572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18054" y="1121569"/>
            <a:ext cx="510783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&amp; Analytics Internship</a:t>
            </a:r>
            <a:endParaRPr lang="en-US" sz="2100" dirty="0"/>
          </a:p>
        </p:txBody>
      </p:sp>
      <p:sp>
        <p:nvSpPr>
          <p:cNvPr id="5" name="Text 1"/>
          <p:cNvSpPr/>
          <p:nvPr/>
        </p:nvSpPr>
        <p:spPr>
          <a:xfrm>
            <a:off x="3497759" y="1539478"/>
            <a:ext cx="214842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Wheeltrix | Internship Report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643063" y="2160984"/>
            <a:ext cx="2643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B84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</a:t>
            </a:r>
            <a:endParaRPr lang="en-US" sz="600" dirty="0"/>
          </a:p>
        </p:txBody>
      </p:sp>
      <p:sp>
        <p:nvSpPr>
          <p:cNvPr id="7" name="Text 3"/>
          <p:cNvSpPr/>
          <p:nvPr/>
        </p:nvSpPr>
        <p:spPr>
          <a:xfrm>
            <a:off x="1643063" y="2282428"/>
            <a:ext cx="264318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Riddhima Sharma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857750" y="2160984"/>
            <a:ext cx="2643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B84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NUMBER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4857750" y="2282428"/>
            <a:ext cx="264318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2410031360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643063" y="2543175"/>
            <a:ext cx="2643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B84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1643063" y="2664619"/>
            <a:ext cx="264318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857750" y="2543175"/>
            <a:ext cx="2643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B84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4857750" y="2664619"/>
            <a:ext cx="264318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Wheeltrix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643063" y="2925366"/>
            <a:ext cx="2643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B84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1643063" y="3046809"/>
            <a:ext cx="264318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Intern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857750" y="2925366"/>
            <a:ext cx="26431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B84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4857750" y="3046809"/>
            <a:ext cx="264318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June – 27 July, 2026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0" y="4904184"/>
            <a:ext cx="91440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Computer Science and Engineering | IILM University, Greater Noida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98252"/>
            <a:ext cx="164496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Profile</a:t>
            </a:r>
            <a:endParaRPr lang="en-US" sz="1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585" y="207169"/>
            <a:ext cx="388665" cy="4143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5788" y="1064419"/>
            <a:ext cx="29146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B84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585788" y="1200150"/>
            <a:ext cx="29146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Riddhima Sharma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85788" y="1582341"/>
            <a:ext cx="29146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B84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NUMBER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585788" y="1718072"/>
            <a:ext cx="29146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2410031360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85788" y="2100263"/>
            <a:ext cx="29146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B84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INSTITUTION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585788" y="2235994"/>
            <a:ext cx="29146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85788" y="2618184"/>
            <a:ext cx="29146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7B84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585788" y="2753916"/>
            <a:ext cx="29146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Computer Science &amp; Engineering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000500" y="992981"/>
            <a:ext cx="4714875" cy="190023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0"/>
          <p:cNvSpPr/>
          <p:nvPr/>
        </p:nvSpPr>
        <p:spPr>
          <a:xfrm>
            <a:off x="4243388" y="1193006"/>
            <a:ext cx="42291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Background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243388" y="1485900"/>
            <a:ext cx="4229100" cy="29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pursuing B.Tech in Computer Science and Engineering with a focus on data science and Artificial Intelligence/machine-learning applications.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243388" y="1960178"/>
            <a:ext cx="42291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Year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243388" y="2185206"/>
            <a:ext cx="42291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Section: 3CSE22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243388" y="2410234"/>
            <a:ext cx="42291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Batch: 2024 – 2028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243388" y="2635262"/>
            <a:ext cx="42291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8754945" y="4918472"/>
            <a:ext cx="10330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98252"/>
            <a:ext cx="1955657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Internship</a:t>
            </a:r>
            <a:endParaRPr lang="en-US" sz="1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585" y="207169"/>
            <a:ext cx="388665" cy="4143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1494" y="1200150"/>
            <a:ext cx="37290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21494" y="1439466"/>
            <a:ext cx="372903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Wheeltrix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21494" y="1671638"/>
            <a:ext cx="3729038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IN" sz="850" dirty="0" err="1">
                <a:latin typeface="Arial" panose="020B0604020202020204" pitchFamily="34" charset="0"/>
                <a:cs typeface="Arial" panose="020B0604020202020204" pitchFamily="34" charset="0"/>
              </a:rPr>
              <a:t>Wheeltrix</a:t>
            </a:r>
            <a:r>
              <a:rPr lang="en-IN" sz="850" dirty="0">
                <a:latin typeface="Arial" panose="020B0604020202020204" pitchFamily="34" charset="0"/>
                <a:cs typeface="Arial" panose="020B0604020202020204" pitchFamily="34" charset="0"/>
              </a:rPr>
              <a:t> is a growing Ed-Tech startup that develops intelligent digital solutions using AI, automation, and cloud technologies. The company focuses on delivering innovative, scalable, and secure software solutions tailored to client needs.</a:t>
            </a:r>
            <a:r>
              <a:rPr lang="en-US" sz="85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893469" y="1200150"/>
            <a:ext cx="37290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ROLE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893469" y="1439466"/>
            <a:ext cx="372903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Intern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893469" y="1671638"/>
            <a:ext cx="3729038" cy="29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latin typeface="Arial" pitchFamily="34" charset="0"/>
                <a:ea typeface="Arial" pitchFamily="34" charset="-122"/>
                <a:cs typeface="Arial" pitchFamily="34" charset="-120"/>
              </a:rPr>
              <a:t>Working on a sentiment-analysis project that converts movie-review text into useful audience insights.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21494" y="3214688"/>
            <a:ext cx="37290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&amp; DURATION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21494" y="3454003"/>
            <a:ext cx="372903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Project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21494" y="3686175"/>
            <a:ext cx="1905971" cy="1417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latin typeface="Arial" pitchFamily="34" charset="0"/>
                <a:ea typeface="Arial" pitchFamily="34" charset="-122"/>
                <a:cs typeface="Arial" pitchFamily="34" charset="-120"/>
              </a:rPr>
              <a:t>1 month (27 June 2026 – 27 July 2026)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893469" y="3214688"/>
            <a:ext cx="37290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CONTEXT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893469" y="3454003"/>
            <a:ext cx="372903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&amp; Professional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93469" y="3686175"/>
            <a:ext cx="3729038" cy="29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latin typeface="Arial" pitchFamily="34" charset="0"/>
                <a:ea typeface="Arial" pitchFamily="34" charset="-122"/>
                <a:cs typeface="Arial" pitchFamily="34" charset="-120"/>
              </a:rPr>
              <a:t>Connecting B.Tech CSE concepts with a complete data-science workflow: data preparation, modeling, evaluation, and documentation.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8754945" y="4918472"/>
            <a:ext cx="10330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8B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0759"/>
            <a:ext cx="345511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review to prediction</a:t>
            </a:r>
            <a:endParaRPr lang="en-US" sz="1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114" y="271463"/>
            <a:ext cx="428848" cy="457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1500" y="1976307"/>
            <a:ext cx="1497285" cy="13444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Shape 2"/>
          <p:cNvSpPr/>
          <p:nvPr/>
        </p:nvSpPr>
        <p:spPr>
          <a:xfrm>
            <a:off x="571500" y="1976307"/>
            <a:ext cx="1497285" cy="35719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7" name="Text 3"/>
          <p:cNvSpPr/>
          <p:nvPr/>
        </p:nvSpPr>
        <p:spPr>
          <a:xfrm>
            <a:off x="700088" y="2119182"/>
            <a:ext cx="12401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700088" y="2412076"/>
            <a:ext cx="124011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00088" y="2662107"/>
            <a:ext cx="124011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labeled movie reviews from the IMDb benchmark.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2025923" y="2462082"/>
            <a:ext cx="20002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197373" y="1976307"/>
            <a:ext cx="1497341" cy="13444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Shape 8"/>
          <p:cNvSpPr/>
          <p:nvPr/>
        </p:nvSpPr>
        <p:spPr>
          <a:xfrm>
            <a:off x="2197373" y="1976307"/>
            <a:ext cx="1497341" cy="35719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3" name="Text 9"/>
          <p:cNvSpPr/>
          <p:nvPr/>
        </p:nvSpPr>
        <p:spPr>
          <a:xfrm>
            <a:off x="2325960" y="2119182"/>
            <a:ext cx="12401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2325960" y="2412076"/>
            <a:ext cx="12401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325960" y="2662107"/>
            <a:ext cx="12401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markup and noise, normalize text, preserve emphasis.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651852" y="2462082"/>
            <a:ext cx="20002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823302" y="1976307"/>
            <a:ext cx="1497341" cy="13444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" name="Shape 14"/>
          <p:cNvSpPr/>
          <p:nvPr/>
        </p:nvSpPr>
        <p:spPr>
          <a:xfrm>
            <a:off x="3823302" y="1976307"/>
            <a:ext cx="1497341" cy="35719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19" name="Text 15"/>
          <p:cNvSpPr/>
          <p:nvPr/>
        </p:nvSpPr>
        <p:spPr>
          <a:xfrm>
            <a:off x="3951889" y="2119182"/>
            <a:ext cx="12401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3951889" y="2412076"/>
            <a:ext cx="12401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951889" y="2662107"/>
            <a:ext cx="12401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language into TF-IDF word and bigram features.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5277780" y="2462082"/>
            <a:ext cx="20002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49230" y="1976307"/>
            <a:ext cx="1497341" cy="13444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4" name="Shape 20"/>
          <p:cNvSpPr/>
          <p:nvPr/>
        </p:nvSpPr>
        <p:spPr>
          <a:xfrm>
            <a:off x="5449230" y="1976307"/>
            <a:ext cx="1497341" cy="35719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25" name="Text 21"/>
          <p:cNvSpPr/>
          <p:nvPr/>
        </p:nvSpPr>
        <p:spPr>
          <a:xfrm>
            <a:off x="5577818" y="2119182"/>
            <a:ext cx="12401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5577818" y="2412076"/>
            <a:ext cx="12401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577818" y="2662107"/>
            <a:ext cx="12401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a Logistic Regression classifier on the training split.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903709" y="2462082"/>
            <a:ext cx="20002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7075159" y="1976307"/>
            <a:ext cx="1497341" cy="13444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0" name="Shape 26"/>
          <p:cNvSpPr/>
          <p:nvPr/>
        </p:nvSpPr>
        <p:spPr>
          <a:xfrm>
            <a:off x="7075159" y="1976307"/>
            <a:ext cx="1497341" cy="35719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31" name="Text 27"/>
          <p:cNvSpPr/>
          <p:nvPr/>
        </p:nvSpPr>
        <p:spPr>
          <a:xfrm>
            <a:off x="7203746" y="2137042"/>
            <a:ext cx="12401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7203746" y="2429935"/>
            <a:ext cx="12401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7203746" y="2679967"/>
            <a:ext cx="12401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accuracy, precision, recall, F1-score, and errors.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571500" y="3545756"/>
            <a:ext cx="80010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fitted vectorizer transforms both training and unseen test reviews.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0" y="4900613"/>
            <a:ext cx="9144000" cy="242888"/>
          </a:xfrm>
          <a:prstGeom prst="rect">
            <a:avLst/>
          </a:prstGeom>
          <a:noFill/>
          <a:ln/>
        </p:spPr>
        <p:txBody>
          <a:bodyPr wrap="square" lIns="357251" tIns="0" rIns="357251" bIns="153035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29" y="-37839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0759"/>
            <a:ext cx="367099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language for learning</a:t>
            </a:r>
            <a:endParaRPr lang="en-US" sz="1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114" y="271463"/>
            <a:ext cx="428848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2938" y="2150269"/>
            <a:ext cx="331112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is not about deleting meaning. It is about removing distraction.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42938" y="3164681"/>
            <a:ext cx="331112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preprocessing choices are deliberately simple and reproducible.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454128" y="1731020"/>
            <a:ext cx="1143000" cy="339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&amp; normalize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754291" y="1731020"/>
            <a:ext cx="2746772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HTML entities, lowercase text, and collapse repeated whitespace.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454128" y="2363912"/>
            <a:ext cx="1143000" cy="339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markup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754291" y="2363912"/>
            <a:ext cx="2746772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review break tags and remove non-alphanumeric noise while retaining ! and ?.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454128" y="2996803"/>
            <a:ext cx="1143000" cy="339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754291" y="2996803"/>
            <a:ext cx="2746772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word-level tokens and include unigrams plus bigrams to capture short phrases.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454128" y="3629695"/>
            <a:ext cx="1143000" cy="339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split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754291" y="3629695"/>
            <a:ext cx="2746772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the vocabulary on training data only, then transform the held-out test data.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0" y="4900613"/>
            <a:ext cx="9144000" cy="242888"/>
          </a:xfrm>
          <a:prstGeom prst="rect">
            <a:avLst/>
          </a:prstGeom>
          <a:noFill/>
          <a:ln/>
        </p:spPr>
        <p:txBody>
          <a:bodyPr wrap="square" lIns="357251" tIns="0" rIns="357251" bIns="153035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0759"/>
            <a:ext cx="39473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TF-IDF + Logistic Regression</a:t>
            </a:r>
            <a:endParaRPr lang="en-US" sz="1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114" y="271463"/>
            <a:ext cx="428848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200150"/>
            <a:ext cx="37861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571500" y="1407319"/>
            <a:ext cx="3786188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gives important words more influence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71500" y="2000250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Frequency–Inverse Document Frequency creates a sparse numerical representation. Common words receive less weight; words that distinguish documents receive more.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71500" y="2878931"/>
            <a:ext cx="47930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918682" y="2878931"/>
            <a:ext cx="4390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71500" y="3239691"/>
            <a:ext cx="3579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200233" y="3239691"/>
            <a:ext cx="115745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unigrams + bigrams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71500" y="3600450"/>
            <a:ext cx="3983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635666" y="3600450"/>
            <a:ext cx="7220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sublinear TF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786313" y="1200150"/>
            <a:ext cx="37861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786313" y="1407319"/>
            <a:ext cx="3786188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is a strong baseline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86313" y="2000250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fast, interpretable, and well suited to high-dimensional sparse text features. The model learns which patterns push a review toward positive or negative sentiment.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86313" y="2778919"/>
            <a:ext cx="3786188" cy="979308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8" name="Text 14"/>
          <p:cNvSpPr/>
          <p:nvPr/>
        </p:nvSpPr>
        <p:spPr>
          <a:xfrm>
            <a:off x="4786313" y="2778919"/>
            <a:ext cx="3786188" cy="979308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model is valuable when the experiment must be </a:t>
            </a:r>
            <a:r>
              <a:rPr lang="en-US" sz="1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measurable, repeatable, and explainable.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0" y="4900613"/>
            <a:ext cx="9144000" cy="242888"/>
          </a:xfrm>
          <a:prstGeom prst="rect">
            <a:avLst/>
          </a:prstGeom>
          <a:noFill/>
          <a:ln/>
        </p:spPr>
        <p:txBody>
          <a:bodyPr wrap="square" lIns="357251" tIns="0" rIns="357251" bIns="153035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0759"/>
            <a:ext cx="371223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baseline performance</a:t>
            </a:r>
            <a:endParaRPr lang="en-US" sz="1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114" y="271463"/>
            <a:ext cx="428848" cy="457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0063" y="1760934"/>
            <a:ext cx="2324398" cy="842963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6" name="Text 2"/>
          <p:cNvSpPr/>
          <p:nvPr/>
        </p:nvSpPr>
        <p:spPr>
          <a:xfrm>
            <a:off x="671513" y="1918097"/>
            <a:ext cx="198149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90.54%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71513" y="2314575"/>
            <a:ext cx="67335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2953048" y="1760934"/>
            <a:ext cx="2324398" cy="842963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9" name="Text 5"/>
          <p:cNvSpPr/>
          <p:nvPr/>
        </p:nvSpPr>
        <p:spPr>
          <a:xfrm>
            <a:off x="3124498" y="1918097"/>
            <a:ext cx="198149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0.9055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3124498" y="2314575"/>
            <a:ext cx="116872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positive-class F1-score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00063" y="2732484"/>
            <a:ext cx="2324398" cy="842963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2" name="Text 8"/>
          <p:cNvSpPr/>
          <p:nvPr/>
        </p:nvSpPr>
        <p:spPr>
          <a:xfrm>
            <a:off x="671513" y="2889647"/>
            <a:ext cx="198149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0.9043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71513" y="3286125"/>
            <a:ext cx="8767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precision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953048" y="2732484"/>
            <a:ext cx="2324398" cy="842963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5" name="Text 11"/>
          <p:cNvSpPr/>
          <p:nvPr/>
        </p:nvSpPr>
        <p:spPr>
          <a:xfrm>
            <a:off x="3124498" y="2889647"/>
            <a:ext cx="198149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0.9067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3124498" y="3286125"/>
            <a:ext cx="6924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recall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0063" y="3704034"/>
            <a:ext cx="47773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48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25,000 held-out IMDb test reviews using TF-IDF word unigrams/bigrams and Logistic Regression.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777508" y="2005608"/>
            <a:ext cx="286643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781080" y="2316361"/>
            <a:ext cx="1333481" cy="375047"/>
          </a:xfrm>
          <a:prstGeom prst="rect">
            <a:avLst/>
          </a:prstGeom>
          <a:solidFill>
            <a:srgbClr val="F3F4F6"/>
          </a:solidFill>
          <a:ln w="9144">
            <a:solidFill>
              <a:srgbClr val="CCD3D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81080" y="2316361"/>
            <a:ext cx="1333481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\ Predicted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7112552" y="2316361"/>
            <a:ext cx="785310" cy="375047"/>
          </a:xfrm>
          <a:prstGeom prst="rect">
            <a:avLst/>
          </a:prstGeom>
          <a:solidFill>
            <a:srgbClr val="F3F4F6"/>
          </a:solidFill>
          <a:ln w="9144">
            <a:solidFill>
              <a:srgbClr val="CCD3D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112552" y="2316361"/>
            <a:ext cx="785310" cy="375047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7895853" y="2316361"/>
            <a:ext cx="744513" cy="375047"/>
          </a:xfrm>
          <a:prstGeom prst="rect">
            <a:avLst/>
          </a:prstGeom>
          <a:solidFill>
            <a:srgbClr val="F3F4F6"/>
          </a:solidFill>
          <a:ln w="9144">
            <a:solidFill>
              <a:srgbClr val="CCD3D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895853" y="2316361"/>
            <a:ext cx="744513" cy="375047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781080" y="2687836"/>
            <a:ext cx="1336551" cy="375047"/>
          </a:xfrm>
          <a:prstGeom prst="rect">
            <a:avLst/>
          </a:prstGeom>
          <a:solidFill>
            <a:srgbClr val="F3F4F6"/>
          </a:solidFill>
          <a:ln w="9144">
            <a:solidFill>
              <a:srgbClr val="CCD3D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81080" y="2687836"/>
            <a:ext cx="1336551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117631" y="2687836"/>
            <a:ext cx="782910" cy="375047"/>
          </a:xfrm>
          <a:prstGeom prst="rect">
            <a:avLst/>
          </a:prstGeom>
          <a:solidFill>
            <a:srgbClr val="E7F5EE"/>
          </a:solidFill>
          <a:ln w="9144">
            <a:solidFill>
              <a:srgbClr val="CCD3D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117631" y="2687836"/>
            <a:ext cx="782910" cy="375047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11,301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7900541" y="2687836"/>
            <a:ext cx="739825" cy="375047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1,199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781080" y="3062883"/>
            <a:ext cx="1336551" cy="375047"/>
          </a:xfrm>
          <a:prstGeom prst="rect">
            <a:avLst/>
          </a:prstGeom>
          <a:solidFill>
            <a:srgbClr val="F3F4F6"/>
          </a:solidFill>
          <a:ln w="9144">
            <a:solidFill>
              <a:srgbClr val="CCD3D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781080" y="3062883"/>
            <a:ext cx="1336551" cy="37504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115677" y="3062883"/>
            <a:ext cx="783915" cy="375047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1,166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7899592" y="3062883"/>
            <a:ext cx="740773" cy="375047"/>
          </a:xfrm>
          <a:prstGeom prst="rect">
            <a:avLst/>
          </a:prstGeom>
          <a:solidFill>
            <a:srgbClr val="E7F5EE"/>
          </a:solidFill>
          <a:ln w="9144">
            <a:solidFill>
              <a:srgbClr val="CCD3D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899592" y="3062883"/>
            <a:ext cx="740773" cy="375047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11,334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5777508" y="3570089"/>
            <a:ext cx="28664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48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classifications appear on the diagonal.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0" y="4900613"/>
            <a:ext cx="9144000" cy="242888"/>
          </a:xfrm>
          <a:prstGeom prst="rect">
            <a:avLst/>
          </a:prstGeom>
          <a:noFill/>
          <a:ln/>
        </p:spPr>
        <p:txBody>
          <a:bodyPr wrap="square" lIns="357251" tIns="0" rIns="357251" bIns="153035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0759"/>
            <a:ext cx="265875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results tell us</a:t>
            </a:r>
            <a:endParaRPr lang="en-US" sz="1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114" y="271463"/>
            <a:ext cx="428848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2938" y="2189559"/>
            <a:ext cx="367903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2938" y="2503884"/>
            <a:ext cx="367903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reached above 90% accuracy on a balanced benchmark. Precision and recall were closely matched, which suggests that the classifier did not strongly favor one labeled class.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642938" y="3432572"/>
            <a:ext cx="1472003" cy="228600"/>
          </a:xfrm>
          <a:prstGeom prst="rect">
            <a:avLst/>
          </a:prstGeom>
          <a:solidFill>
            <a:srgbClr val="F7E7E7"/>
          </a:solidFill>
          <a:ln/>
        </p:spPr>
      </p:sp>
      <p:sp>
        <p:nvSpPr>
          <p:cNvPr id="8" name="Text 4"/>
          <p:cNvSpPr/>
          <p:nvPr/>
        </p:nvSpPr>
        <p:spPr>
          <a:xfrm>
            <a:off x="642938" y="3432572"/>
            <a:ext cx="1472003" cy="22860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benchmark baseline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2157803" y="3432572"/>
            <a:ext cx="921934" cy="228600"/>
          </a:xfrm>
          <a:prstGeom prst="rect">
            <a:avLst/>
          </a:prstGeom>
          <a:solidFill>
            <a:srgbClr val="F7E7E7"/>
          </a:solidFill>
          <a:ln/>
        </p:spPr>
      </p:sp>
      <p:sp>
        <p:nvSpPr>
          <p:cNvPr id="10" name="Text 6"/>
          <p:cNvSpPr/>
          <p:nvPr/>
        </p:nvSpPr>
        <p:spPr>
          <a:xfrm>
            <a:off x="2157803" y="3432572"/>
            <a:ext cx="921934" cy="228600"/>
          </a:xfrm>
          <a:prstGeom prst="rect">
            <a:avLst/>
          </a:prstGeom>
          <a:noFill/>
          <a:ln/>
        </p:spPr>
        <p:txBody>
          <a:bodyPr wrap="none" lIns="102108" tIns="68072" rIns="1021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errors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122600" y="3432572"/>
            <a:ext cx="1127373" cy="228600"/>
          </a:xfrm>
          <a:prstGeom prst="rect">
            <a:avLst/>
          </a:prstGeom>
          <a:solidFill>
            <a:srgbClr val="F7E7E7"/>
          </a:solidFill>
          <a:ln/>
        </p:spPr>
      </p:sp>
      <p:sp>
        <p:nvSpPr>
          <p:cNvPr id="12" name="Text 8"/>
          <p:cNvSpPr/>
          <p:nvPr/>
        </p:nvSpPr>
        <p:spPr>
          <a:xfrm>
            <a:off x="3122600" y="3432572"/>
            <a:ext cx="1127373" cy="228600"/>
          </a:xfrm>
          <a:prstGeom prst="rect">
            <a:avLst/>
          </a:prstGeom>
          <a:noFill/>
          <a:ln/>
        </p:spPr>
        <p:txBody>
          <a:bodyPr wrap="none" lIns="102108" tIns="68072" rIns="1021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reproduce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4822031" y="2286000"/>
            <a:ext cx="367903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still needs care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22031" y="2600325"/>
            <a:ext cx="36790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 is specific to IMDb-style English reviews. Sarcasm, mixed opinions, changing language, genre differences, and distribution shift can reduce performance in real use.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22031" y="3336131"/>
            <a:ext cx="793905" cy="228600"/>
          </a:xfrm>
          <a:prstGeom prst="rect">
            <a:avLst/>
          </a:prstGeom>
          <a:solidFill>
            <a:srgbClr val="F7E7E7"/>
          </a:solidFill>
          <a:ln/>
        </p:spPr>
      </p:sp>
      <p:sp>
        <p:nvSpPr>
          <p:cNvPr id="16" name="Text 12"/>
          <p:cNvSpPr/>
          <p:nvPr/>
        </p:nvSpPr>
        <p:spPr>
          <a:xfrm>
            <a:off x="4822031" y="3336131"/>
            <a:ext cx="793905" cy="228600"/>
          </a:xfrm>
          <a:prstGeom prst="rect">
            <a:avLst/>
          </a:prstGeom>
          <a:noFill/>
          <a:ln/>
        </p:spPr>
        <p:txBody>
          <a:bodyPr wrap="none" lIns="102108" tIns="68072" rIns="1021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universal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5658799" y="3336131"/>
            <a:ext cx="1216000" cy="228600"/>
          </a:xfrm>
          <a:prstGeom prst="rect">
            <a:avLst/>
          </a:prstGeom>
          <a:solidFill>
            <a:srgbClr val="F7E7E7"/>
          </a:solidFill>
          <a:ln/>
        </p:spPr>
      </p:sp>
      <p:sp>
        <p:nvSpPr>
          <p:cNvPr id="18" name="Text 14"/>
          <p:cNvSpPr/>
          <p:nvPr/>
        </p:nvSpPr>
        <p:spPr>
          <a:xfrm>
            <a:off x="5658799" y="3336131"/>
            <a:ext cx="1216000" cy="228600"/>
          </a:xfrm>
          <a:prstGeom prst="rect">
            <a:avLst/>
          </a:prstGeom>
          <a:noFill/>
          <a:ln/>
        </p:spPr>
        <p:txBody>
          <a:bodyPr wrap="none" lIns="102108" tIns="68072" rIns="1021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emotion detection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6917661" y="3336131"/>
            <a:ext cx="1366521" cy="228600"/>
          </a:xfrm>
          <a:prstGeom prst="rect">
            <a:avLst/>
          </a:prstGeom>
          <a:solidFill>
            <a:srgbClr val="F7E7E7"/>
          </a:solidFill>
          <a:ln/>
        </p:spPr>
      </p:sp>
      <p:sp>
        <p:nvSpPr>
          <p:cNvPr id="20" name="Text 16"/>
          <p:cNvSpPr/>
          <p:nvPr/>
        </p:nvSpPr>
        <p:spPr>
          <a:xfrm>
            <a:off x="6917661" y="3336131"/>
            <a:ext cx="1366521" cy="22860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external validation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0" y="4900613"/>
            <a:ext cx="9144000" cy="242888"/>
          </a:xfrm>
          <a:prstGeom prst="rect">
            <a:avLst/>
          </a:prstGeom>
          <a:noFill/>
          <a:ln/>
        </p:spPr>
        <p:txBody>
          <a:bodyPr wrap="square" lIns="357251" tIns="0" rIns="357251" bIns="153035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0038" y="360759"/>
            <a:ext cx="373846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and deployment path</a:t>
            </a:r>
            <a:endParaRPr lang="en-US" sz="1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114" y="271463"/>
            <a:ext cx="428848" cy="457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92944" y="1753791"/>
            <a:ext cx="271463" cy="271463"/>
          </a:xfrm>
          <a:prstGeom prst="ellipse">
            <a:avLst/>
          </a:prstGeom>
          <a:solidFill>
            <a:srgbClr val="172033"/>
          </a:solidFill>
          <a:ln/>
        </p:spPr>
      </p:sp>
      <p:sp>
        <p:nvSpPr>
          <p:cNvPr id="6" name="Text 2"/>
          <p:cNvSpPr/>
          <p:nvPr/>
        </p:nvSpPr>
        <p:spPr>
          <a:xfrm>
            <a:off x="692944" y="1753791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92944" y="2225278"/>
            <a:ext cx="1628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models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92944" y="2482453"/>
            <a:ext cx="1628775" cy="662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58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Linear SVM, Naive Bayes, and calibrated alternatives against the same split.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736056" y="1753791"/>
            <a:ext cx="271463" cy="271463"/>
          </a:xfrm>
          <a:prstGeom prst="ellipse">
            <a:avLst/>
          </a:prstGeom>
          <a:solidFill>
            <a:srgbClr val="172033"/>
          </a:solidFill>
          <a:ln/>
        </p:spPr>
      </p:sp>
      <p:sp>
        <p:nvSpPr>
          <p:cNvPr id="10" name="Text 6"/>
          <p:cNvSpPr/>
          <p:nvPr/>
        </p:nvSpPr>
        <p:spPr>
          <a:xfrm>
            <a:off x="2736056" y="1753791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2736056" y="2225278"/>
            <a:ext cx="1628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language coverage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736056" y="2653903"/>
            <a:ext cx="1628775" cy="662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58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character n-grams, negation handling, sarcasm cases, and newer review sources.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779169" y="1753791"/>
            <a:ext cx="271463" cy="271463"/>
          </a:xfrm>
          <a:prstGeom prst="ellipse">
            <a:avLst/>
          </a:prstGeom>
          <a:solidFill>
            <a:srgbClr val="172033"/>
          </a:solidFill>
          <a:ln/>
        </p:spPr>
      </p:sp>
      <p:sp>
        <p:nvSpPr>
          <p:cNvPr id="14" name="Text 10"/>
          <p:cNvSpPr/>
          <p:nvPr/>
        </p:nvSpPr>
        <p:spPr>
          <a:xfrm>
            <a:off x="4779169" y="1753791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779169" y="2225278"/>
            <a:ext cx="1628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transformers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79169" y="2482453"/>
            <a:ext cx="1628775" cy="662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58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BERT-style models when compute, latency, and explainability trade-offs are acceptable.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822281" y="1753791"/>
            <a:ext cx="271463" cy="271463"/>
          </a:xfrm>
          <a:prstGeom prst="ellipse">
            <a:avLst/>
          </a:prstGeom>
          <a:solidFill>
            <a:srgbClr val="172033"/>
          </a:solidFill>
          <a:ln/>
        </p:spPr>
      </p:sp>
      <p:sp>
        <p:nvSpPr>
          <p:cNvPr id="18" name="Text 14"/>
          <p:cNvSpPr/>
          <p:nvPr/>
        </p:nvSpPr>
        <p:spPr>
          <a:xfrm>
            <a:off x="6822281" y="1753791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822281" y="2225278"/>
            <a:ext cx="1628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the model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822281" y="2482453"/>
            <a:ext cx="1628775" cy="662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58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a prediction API or dashboard with confidence, monitoring, and clear limitations.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57213" y="4307681"/>
            <a:ext cx="8029575" cy="40719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" name="Text 18"/>
          <p:cNvSpPr/>
          <p:nvPr/>
        </p:nvSpPr>
        <p:spPr>
          <a:xfrm>
            <a:off x="557213" y="4307681"/>
            <a:ext cx="8029575" cy="407194"/>
          </a:xfrm>
          <a:prstGeom prst="rect">
            <a:avLst/>
          </a:prstGeom>
          <a:noFill/>
          <a:ln/>
        </p:spPr>
        <p:txBody>
          <a:bodyPr wrap="square" lIns="187071" tIns="153035" rIns="187071" bIns="153035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principle:</a:t>
            </a: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the benchmark pipeline as a transparent reference even after more advanced models are added.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0" y="4900613"/>
            <a:ext cx="9144000" cy="242888"/>
          </a:xfrm>
          <a:prstGeom prst="rect">
            <a:avLst/>
          </a:prstGeom>
          <a:noFill/>
          <a:ln/>
        </p:spPr>
        <p:txBody>
          <a:bodyPr wrap="square" lIns="357251" tIns="0" rIns="357251" bIns="153035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066" y="727658"/>
            <a:ext cx="797812" cy="8429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571261" y="1842083"/>
            <a:ext cx="2001478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50" dirty="0"/>
          </a:p>
        </p:txBody>
      </p:sp>
      <p:sp>
        <p:nvSpPr>
          <p:cNvPr id="5" name="Text 1"/>
          <p:cNvSpPr/>
          <p:nvPr/>
        </p:nvSpPr>
        <p:spPr>
          <a:xfrm>
            <a:off x="2164333" y="2449302"/>
            <a:ext cx="481533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transparent baseline for understanding audience sentiment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2353977" y="3206539"/>
            <a:ext cx="4436046" cy="848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9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Riddhima Sharma</a:t>
            </a:r>
            <a:r>
              <a:rPr lang="en-US" sz="9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Roll No. 2410031360
B.Tech CSE · 3rd Year · Section 3CSE22 · Batch 2024-2028
Data Analyst Intern · Wheeltrix · 27 June 2026 – 27 July 2026
School of Computer Science and Engineering · IILM University, Greater Noida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2892605" y="4255108"/>
            <a:ext cx="335879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topic: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Sentiment Analysis on Movie Reviews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802</Words>
  <Application>Microsoft Office PowerPoint</Application>
  <PresentationFormat>On-screen Show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Riddhima Sharma</cp:lastModifiedBy>
  <cp:revision>2</cp:revision>
  <dcterms:created xsi:type="dcterms:W3CDTF">2026-09-10T14:21:04Z</dcterms:created>
  <dcterms:modified xsi:type="dcterms:W3CDTF">2026-09-10T14:49:40Z</dcterms:modified>
</cp:coreProperties>
</file>